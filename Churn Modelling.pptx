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0" r:id="rId3"/>
    <p:sldId id="261" r:id="rId4"/>
    <p:sldId id="263" r:id="rId5"/>
    <p:sldId id="265" r:id="rId6"/>
    <p:sldId id="270" r:id="rId7"/>
    <p:sldId id="271" r:id="rId8"/>
    <p:sldId id="272" r:id="rId9"/>
    <p:sldId id="273"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12/17/2024</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12/17/2024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12/17/2024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12/17/2024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12/17/2024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12/17/2024</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12/17/2024</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Churn Modelling</a:t>
            </a:r>
            <a:br>
              <a:rPr lang="en-US" b="1" dirty="0"/>
            </a:br>
            <a:endParaRPr lang="en-US" dirty="0"/>
          </a:p>
        </p:txBody>
      </p:sp>
      <p:sp>
        <p:nvSpPr>
          <p:cNvPr id="3" name="Subtitle 2"/>
          <p:cNvSpPr>
            <a:spLocks noGrp="1"/>
          </p:cNvSpPr>
          <p:nvPr>
            <p:ph type="subTitle" idx="1"/>
          </p:nvPr>
        </p:nvSpPr>
        <p:spPr>
          <a:xfrm>
            <a:off x="1154954" y="4777379"/>
            <a:ext cx="8625149" cy="656011"/>
          </a:xfrm>
        </p:spPr>
        <p:txBody>
          <a:bodyPr>
            <a:normAutofit/>
          </a:bodyPr>
          <a:lstStyle/>
          <a:p>
            <a:endParaRPr lang="en-US" dirty="0"/>
          </a:p>
        </p:txBody>
      </p:sp>
    </p:spTree>
    <p:extLst>
      <p:ext uri="{BB962C8B-B14F-4D97-AF65-F5344CB8AC3E}">
        <p14:creationId xmlns:p14="http://schemas.microsoft.com/office/powerpoint/2010/main" val="1726226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Introduction</a:t>
            </a:r>
            <a:endParaRPr lang="en-US" sz="4000" dirty="0"/>
          </a:p>
        </p:txBody>
      </p:sp>
      <p:sp>
        <p:nvSpPr>
          <p:cNvPr id="3" name="Content Placeholder 2"/>
          <p:cNvSpPr>
            <a:spLocks noGrp="1"/>
          </p:cNvSpPr>
          <p:nvPr>
            <p:ph idx="1"/>
          </p:nvPr>
        </p:nvSpPr>
        <p:spPr/>
        <p:txBody>
          <a:bodyPr>
            <a:normAutofit lnSpcReduction="10000"/>
          </a:bodyPr>
          <a:lstStyle/>
          <a:p>
            <a:r>
              <a:rPr lang="en-US" sz="2400" b="1" dirty="0" smtClean="0"/>
              <a:t>Objective</a:t>
            </a:r>
            <a:endParaRPr lang="en-US" sz="2400" b="1" dirty="0"/>
          </a:p>
          <a:p>
            <a:pPr>
              <a:buFont typeface="Wingdings" panose="05000000000000000000" pitchFamily="2" charset="2"/>
              <a:buChar char="Ø"/>
            </a:pPr>
            <a:r>
              <a:rPr lang="en-US" sz="2000" dirty="0"/>
              <a:t>The objective of this model is to predict customer churn (whether a customer will leave the bank or not) based on their demographic, financial, and account activity data. This helps the bank take proactive measures to improve customer retention and minimize churn.</a:t>
            </a:r>
            <a:endParaRPr lang="en-US" sz="2400" dirty="0" smtClean="0"/>
          </a:p>
          <a:p>
            <a:pPr>
              <a:buFont typeface="Wingdings" panose="05000000000000000000" pitchFamily="2" charset="2"/>
              <a:buChar char="Ø"/>
            </a:pPr>
            <a:r>
              <a:rPr lang="en-US" sz="2000" dirty="0" smtClean="0"/>
              <a:t>To </a:t>
            </a:r>
            <a:r>
              <a:rPr lang="en-US" sz="2000" dirty="0"/>
              <a:t>analyze customer churn data and identify key patterns and trends.</a:t>
            </a:r>
          </a:p>
          <a:p>
            <a:pPr>
              <a:buFont typeface="Wingdings" panose="05000000000000000000" pitchFamily="2" charset="2"/>
              <a:buChar char="Ø"/>
            </a:pPr>
            <a:r>
              <a:rPr lang="en-US" sz="2000" dirty="0"/>
              <a:t>Understand factors contributing to customer churn and suggest actionable insights</a:t>
            </a:r>
          </a:p>
          <a:p>
            <a:endParaRPr lang="en-US" dirty="0"/>
          </a:p>
        </p:txBody>
      </p:sp>
    </p:spTree>
    <p:extLst>
      <p:ext uri="{BB962C8B-B14F-4D97-AF65-F5344CB8AC3E}">
        <p14:creationId xmlns:p14="http://schemas.microsoft.com/office/powerpoint/2010/main" val="4017306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Dataset Overview</a:t>
            </a:r>
            <a:endParaRPr lang="en-US" sz="4000" dirty="0"/>
          </a:p>
        </p:txBody>
      </p:sp>
      <p:sp>
        <p:nvSpPr>
          <p:cNvPr id="3" name="Content Placeholder 2"/>
          <p:cNvSpPr>
            <a:spLocks noGrp="1"/>
          </p:cNvSpPr>
          <p:nvPr>
            <p:ph idx="1"/>
          </p:nvPr>
        </p:nvSpPr>
        <p:spPr>
          <a:xfrm>
            <a:off x="1154954" y="2292625"/>
            <a:ext cx="10665985" cy="3644349"/>
          </a:xfrm>
        </p:spPr>
        <p:txBody>
          <a:bodyPr>
            <a:normAutofit/>
          </a:bodyPr>
          <a:lstStyle/>
          <a:p>
            <a:pPr marL="0" indent="0">
              <a:buNone/>
            </a:pPr>
            <a:endParaRPr lang="en-US" dirty="0" smtClean="0"/>
          </a:p>
          <a:p>
            <a:r>
              <a:rPr lang="en-US" sz="2000" b="1" dirty="0" smtClean="0"/>
              <a:t>Source</a:t>
            </a:r>
            <a:r>
              <a:rPr lang="en-US" sz="2000" dirty="0" smtClean="0"/>
              <a:t> : </a:t>
            </a:r>
            <a:r>
              <a:rPr lang="en-US" sz="2000" dirty="0" smtClean="0"/>
              <a:t>Churn Model</a:t>
            </a:r>
            <a:endParaRPr lang="en-US" sz="2000" dirty="0"/>
          </a:p>
          <a:p>
            <a:r>
              <a:rPr lang="en-US" sz="2000" b="1" dirty="0" smtClean="0"/>
              <a:t>Size</a:t>
            </a:r>
            <a:r>
              <a:rPr lang="en-US" sz="2000" dirty="0" smtClean="0"/>
              <a:t> : 10,000 rows, 14 columns</a:t>
            </a:r>
          </a:p>
          <a:p>
            <a:r>
              <a:rPr lang="en-US" sz="2000" b="1" dirty="0" smtClean="0"/>
              <a:t>Target Variable</a:t>
            </a:r>
            <a:r>
              <a:rPr lang="en-US" sz="2000" dirty="0" smtClean="0"/>
              <a:t>: </a:t>
            </a:r>
            <a:r>
              <a:rPr lang="en-US" sz="2000" dirty="0"/>
              <a:t>`Exited` (Churn status)</a:t>
            </a:r>
          </a:p>
          <a:p>
            <a:r>
              <a:rPr lang="en-US" sz="2000" b="1" dirty="0" smtClean="0"/>
              <a:t>Key Features </a:t>
            </a:r>
            <a:r>
              <a:rPr lang="en-US" sz="2000" dirty="0" smtClean="0"/>
              <a:t>:</a:t>
            </a:r>
            <a:endParaRPr lang="en-US" sz="2000" dirty="0"/>
          </a:p>
          <a:p>
            <a:pPr marL="0" indent="0">
              <a:buNone/>
            </a:pPr>
            <a:r>
              <a:rPr lang="en-US" sz="2000" dirty="0"/>
              <a:t> </a:t>
            </a:r>
            <a:r>
              <a:rPr lang="en-US" sz="2000" dirty="0" smtClean="0"/>
              <a:t>     </a:t>
            </a:r>
            <a:r>
              <a:rPr lang="en-US" sz="2000" dirty="0"/>
              <a:t>- </a:t>
            </a:r>
            <a:r>
              <a:rPr lang="en-US" sz="2000" dirty="0" smtClean="0"/>
              <a:t>Demographics : ‘Geography’, ‘Gender’, ‘Age’</a:t>
            </a:r>
            <a:endParaRPr lang="en-US" sz="2000" dirty="0"/>
          </a:p>
          <a:p>
            <a:pPr marL="0" indent="0">
              <a:buNone/>
            </a:pPr>
            <a:r>
              <a:rPr lang="en-US" sz="2000" dirty="0"/>
              <a:t> </a:t>
            </a:r>
            <a:r>
              <a:rPr lang="en-US" sz="2000" dirty="0" smtClean="0"/>
              <a:t>     </a:t>
            </a:r>
            <a:r>
              <a:rPr lang="en-US" sz="2000" dirty="0"/>
              <a:t>- </a:t>
            </a:r>
            <a:r>
              <a:rPr lang="en-US" sz="2000" dirty="0" smtClean="0"/>
              <a:t>Financial : ‘Balance’, ‘</a:t>
            </a:r>
            <a:r>
              <a:rPr lang="en-US" sz="2000" dirty="0" err="1" smtClean="0"/>
              <a:t>EstimatedSalary</a:t>
            </a:r>
            <a:r>
              <a:rPr lang="en-US" sz="2000" dirty="0" smtClean="0"/>
              <a:t>’, ‘</a:t>
            </a:r>
            <a:r>
              <a:rPr lang="en-US" sz="2000" dirty="0" err="1" smtClean="0"/>
              <a:t>NumOfProducts</a:t>
            </a:r>
            <a:r>
              <a:rPr lang="en-US" sz="2000" dirty="0" smtClean="0"/>
              <a:t>’</a:t>
            </a:r>
            <a:endParaRPr lang="en-US" sz="2000" dirty="0"/>
          </a:p>
          <a:p>
            <a:pPr marL="0" indent="0">
              <a:buNone/>
            </a:pPr>
            <a:r>
              <a:rPr lang="en-US" sz="2000" dirty="0" smtClean="0"/>
              <a:t>      </a:t>
            </a:r>
            <a:r>
              <a:rPr lang="en-US" sz="2000" dirty="0"/>
              <a:t>- Account </a:t>
            </a:r>
            <a:r>
              <a:rPr lang="en-US" sz="2000" dirty="0" smtClean="0"/>
              <a:t>Activity : ‘Tenure’, ‘</a:t>
            </a:r>
            <a:r>
              <a:rPr lang="en-US" sz="2000" dirty="0" err="1" smtClean="0"/>
              <a:t>IsActiveMember</a:t>
            </a:r>
            <a:r>
              <a:rPr lang="en-US" sz="2000" dirty="0" smtClean="0"/>
              <a:t>’</a:t>
            </a:r>
            <a:endParaRPr lang="en-US" sz="2000" dirty="0"/>
          </a:p>
          <a:p>
            <a:pPr>
              <a:buFont typeface="Wingdings" panose="05000000000000000000" pitchFamily="2" charset="2"/>
              <a:buChar char="Ø"/>
            </a:pPr>
            <a:endParaRPr lang="en-US" dirty="0"/>
          </a:p>
          <a:p>
            <a:endParaRPr lang="en-US" dirty="0"/>
          </a:p>
        </p:txBody>
      </p:sp>
    </p:spTree>
    <p:extLst>
      <p:ext uri="{BB962C8B-B14F-4D97-AF65-F5344CB8AC3E}">
        <p14:creationId xmlns:p14="http://schemas.microsoft.com/office/powerpoint/2010/main" val="351621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Data Cleaning Steps</a:t>
            </a:r>
          </a:p>
        </p:txBody>
      </p:sp>
      <p:sp>
        <p:nvSpPr>
          <p:cNvPr id="3" name="Content Placeholder 2"/>
          <p:cNvSpPr>
            <a:spLocks noGrp="1"/>
          </p:cNvSpPr>
          <p:nvPr>
            <p:ph idx="1"/>
          </p:nvPr>
        </p:nvSpPr>
        <p:spPr>
          <a:xfrm>
            <a:off x="1154954" y="2226366"/>
            <a:ext cx="10204175" cy="5539409"/>
          </a:xfrm>
        </p:spPr>
        <p:txBody>
          <a:bodyPr>
            <a:normAutofit/>
          </a:bodyPr>
          <a:lstStyle/>
          <a:p>
            <a:pPr marL="0" indent="0">
              <a:buNone/>
            </a:pPr>
            <a:endParaRPr lang="en-US" dirty="0" smtClean="0"/>
          </a:p>
          <a:p>
            <a:pPr marL="0" indent="0">
              <a:buNone/>
            </a:pPr>
            <a:r>
              <a:rPr lang="en-US" b="1" dirty="0"/>
              <a:t>1. </a:t>
            </a:r>
            <a:r>
              <a:rPr lang="en-US" b="1" dirty="0" smtClean="0"/>
              <a:t>Removed </a:t>
            </a:r>
            <a:r>
              <a:rPr lang="en-US" b="1" dirty="0"/>
              <a:t>Missing </a:t>
            </a:r>
            <a:r>
              <a:rPr lang="en-US" b="1" dirty="0" smtClean="0"/>
              <a:t>Values</a:t>
            </a:r>
            <a:r>
              <a:rPr lang="en-US" b="1" dirty="0"/>
              <a:t> </a:t>
            </a:r>
            <a:r>
              <a:rPr lang="en-US" b="1" dirty="0" smtClean="0"/>
              <a:t>:</a:t>
            </a:r>
            <a:endParaRPr lang="en-US" b="1" dirty="0"/>
          </a:p>
          <a:p>
            <a:pPr marL="0" indent="0">
              <a:buNone/>
            </a:pPr>
            <a:r>
              <a:rPr lang="en-US" dirty="0" smtClean="0"/>
              <a:t>    - </a:t>
            </a:r>
            <a:r>
              <a:rPr lang="en-US" dirty="0"/>
              <a:t>Checked for nulls and dropped rows with missing data.</a:t>
            </a:r>
            <a:r>
              <a:rPr lang="en-US" sz="2000" dirty="0" smtClean="0"/>
              <a:t> </a:t>
            </a:r>
          </a:p>
          <a:p>
            <a:pPr marL="0" indent="0">
              <a:buNone/>
            </a:pPr>
            <a:r>
              <a:rPr lang="en-US" sz="2000" b="1" dirty="0" smtClean="0"/>
              <a:t>2. </a:t>
            </a:r>
            <a:r>
              <a:rPr lang="en-US" b="1" dirty="0" smtClean="0"/>
              <a:t>Dropped </a:t>
            </a:r>
            <a:r>
              <a:rPr lang="en-US" b="1" dirty="0"/>
              <a:t>Unnecessary </a:t>
            </a:r>
            <a:r>
              <a:rPr lang="en-US" b="1" dirty="0" smtClean="0"/>
              <a:t>Columns</a:t>
            </a:r>
            <a:endParaRPr lang="en-US" b="1" dirty="0"/>
          </a:p>
          <a:p>
            <a:pPr marL="0" indent="0">
              <a:buNone/>
            </a:pPr>
            <a:r>
              <a:rPr lang="en-US" dirty="0"/>
              <a:t> </a:t>
            </a:r>
            <a:r>
              <a:rPr lang="en-US" dirty="0" smtClean="0"/>
              <a:t>   - ‘</a:t>
            </a:r>
            <a:r>
              <a:rPr lang="en-US" dirty="0" err="1" smtClean="0"/>
              <a:t>RowNumber</a:t>
            </a:r>
            <a:r>
              <a:rPr lang="en-US" dirty="0" smtClean="0"/>
              <a:t>’, ‘</a:t>
            </a:r>
            <a:r>
              <a:rPr lang="en-US" dirty="0" err="1" smtClean="0"/>
              <a:t>CustomerId</a:t>
            </a:r>
            <a:r>
              <a:rPr lang="en-US" dirty="0" smtClean="0"/>
              <a:t>’, </a:t>
            </a:r>
            <a:r>
              <a:rPr lang="en-US" dirty="0"/>
              <a:t>and </a:t>
            </a:r>
            <a:r>
              <a:rPr lang="en-US" dirty="0" smtClean="0"/>
              <a:t>‘Surname’ </a:t>
            </a:r>
            <a:r>
              <a:rPr lang="en-US" dirty="0"/>
              <a:t>removed.</a:t>
            </a:r>
          </a:p>
          <a:p>
            <a:pPr marL="0" indent="0">
              <a:buNone/>
            </a:pPr>
            <a:r>
              <a:rPr lang="en-US" b="1" dirty="0"/>
              <a:t>3. </a:t>
            </a:r>
            <a:r>
              <a:rPr lang="en-US" b="1" dirty="0" smtClean="0"/>
              <a:t>Encoded </a:t>
            </a:r>
            <a:r>
              <a:rPr lang="en-US" b="1" dirty="0"/>
              <a:t>Categorical </a:t>
            </a:r>
            <a:r>
              <a:rPr lang="en-US" b="1" dirty="0" smtClean="0"/>
              <a:t>Variables</a:t>
            </a:r>
            <a:endParaRPr lang="en-US" b="1" dirty="0"/>
          </a:p>
          <a:p>
            <a:pPr marL="0" indent="0">
              <a:buNone/>
            </a:pPr>
            <a:r>
              <a:rPr lang="en-US" dirty="0"/>
              <a:t> </a:t>
            </a:r>
            <a:r>
              <a:rPr lang="en-US" dirty="0" smtClean="0"/>
              <a:t>   </a:t>
            </a:r>
            <a:r>
              <a:rPr lang="en-US" dirty="0"/>
              <a:t>- One-hot encoding for </a:t>
            </a:r>
            <a:r>
              <a:rPr lang="en-US" dirty="0" smtClean="0"/>
              <a:t>‘Geography’.</a:t>
            </a:r>
            <a:endParaRPr lang="en-US" dirty="0"/>
          </a:p>
          <a:p>
            <a:pPr marL="0" indent="0">
              <a:buNone/>
            </a:pPr>
            <a:r>
              <a:rPr lang="en-US" dirty="0"/>
              <a:t> </a:t>
            </a:r>
            <a:r>
              <a:rPr lang="en-US" dirty="0" smtClean="0"/>
              <a:t>   - </a:t>
            </a:r>
            <a:r>
              <a:rPr lang="en-US" dirty="0"/>
              <a:t>Label encoding for </a:t>
            </a:r>
            <a:r>
              <a:rPr lang="en-US" dirty="0" smtClean="0"/>
              <a:t>‘Gender’.</a:t>
            </a:r>
          </a:p>
          <a:p>
            <a:pPr marL="0" indent="0">
              <a:buNone/>
            </a:pPr>
            <a:r>
              <a:rPr lang="en-US" b="1" dirty="0" smtClean="0"/>
              <a:t>4</a:t>
            </a:r>
            <a:r>
              <a:rPr lang="en-US" b="1" dirty="0"/>
              <a:t>. </a:t>
            </a:r>
            <a:r>
              <a:rPr lang="en-US" b="1" dirty="0" smtClean="0"/>
              <a:t>Scaled </a:t>
            </a:r>
            <a:r>
              <a:rPr lang="en-US" b="1" dirty="0"/>
              <a:t>Numerical </a:t>
            </a:r>
            <a:r>
              <a:rPr lang="en-US" b="1" dirty="0" smtClean="0"/>
              <a:t>Features</a:t>
            </a:r>
            <a:endParaRPr lang="en-US" b="1" dirty="0"/>
          </a:p>
          <a:p>
            <a:pPr marL="0" indent="0">
              <a:buNone/>
            </a:pPr>
            <a:r>
              <a:rPr lang="en-US" dirty="0"/>
              <a:t>   - Applied Min-Max scaling to </a:t>
            </a:r>
            <a:r>
              <a:rPr lang="en-US" dirty="0" smtClean="0"/>
              <a:t>‘</a:t>
            </a:r>
            <a:r>
              <a:rPr lang="en-US" dirty="0" err="1" smtClean="0"/>
              <a:t>Balance’and</a:t>
            </a:r>
            <a:r>
              <a:rPr lang="en-US" dirty="0" smtClean="0"/>
              <a:t> ‘</a:t>
            </a:r>
            <a:r>
              <a:rPr lang="en-US" dirty="0" err="1" smtClean="0"/>
              <a:t>EstimatedSalary</a:t>
            </a:r>
            <a:r>
              <a:rPr lang="en-US" dirty="0" smtClean="0"/>
              <a:t>’.</a:t>
            </a:r>
            <a:endParaRPr lang="en-US" dirty="0"/>
          </a:p>
          <a:p>
            <a:pPr marL="0" indent="0">
              <a:buNone/>
            </a:pPr>
            <a:endParaRPr lang="en-US" sz="2000" u="sng" dirty="0"/>
          </a:p>
          <a:p>
            <a:pPr>
              <a:buFont typeface="Wingdings" panose="05000000000000000000" pitchFamily="2" charset="2"/>
              <a:buChar char="Ø"/>
            </a:pPr>
            <a:endParaRPr lang="en-US" dirty="0"/>
          </a:p>
          <a:p>
            <a:endParaRPr lang="en-US" dirty="0"/>
          </a:p>
        </p:txBody>
      </p:sp>
    </p:spTree>
    <p:extLst>
      <p:ext uri="{BB962C8B-B14F-4D97-AF65-F5344CB8AC3E}">
        <p14:creationId xmlns:p14="http://schemas.microsoft.com/office/powerpoint/2010/main" val="277582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pc="300" dirty="0"/>
              <a:t>Key Statistics</a:t>
            </a:r>
          </a:p>
        </p:txBody>
      </p:sp>
      <p:sp>
        <p:nvSpPr>
          <p:cNvPr id="3" name="Content Placeholder 2"/>
          <p:cNvSpPr>
            <a:spLocks noGrp="1"/>
          </p:cNvSpPr>
          <p:nvPr>
            <p:ph sz="half" idx="1"/>
          </p:nvPr>
        </p:nvSpPr>
        <p:spPr>
          <a:xfrm>
            <a:off x="810398" y="2298700"/>
            <a:ext cx="5166333" cy="4804465"/>
          </a:xfrm>
        </p:spPr>
        <p:txBody>
          <a:bodyPr>
            <a:noAutofit/>
          </a:bodyPr>
          <a:lstStyle/>
          <a:p>
            <a:r>
              <a:rPr lang="en-US" sz="2400" b="1" dirty="0" smtClean="0"/>
              <a:t>Demographics</a:t>
            </a:r>
          </a:p>
          <a:p>
            <a:r>
              <a:rPr lang="en-US" sz="2000" dirty="0" smtClean="0"/>
              <a:t>Gender :</a:t>
            </a:r>
            <a:endParaRPr lang="en-US" sz="2000" dirty="0"/>
          </a:p>
          <a:p>
            <a:pPr marL="0" indent="0">
              <a:buNone/>
            </a:pPr>
            <a:r>
              <a:rPr lang="en-US" sz="2000" dirty="0" smtClean="0"/>
              <a:t>    - Male : 54%</a:t>
            </a:r>
          </a:p>
          <a:p>
            <a:pPr marL="0" indent="0">
              <a:buNone/>
            </a:pPr>
            <a:r>
              <a:rPr lang="en-US" sz="2000" dirty="0" smtClean="0"/>
              <a:t>    - Female: 46%</a:t>
            </a:r>
          </a:p>
          <a:p>
            <a:r>
              <a:rPr lang="en-US" sz="2000" dirty="0" smtClean="0"/>
              <a:t>Geography :</a:t>
            </a:r>
          </a:p>
          <a:p>
            <a:pPr marL="0" indent="0">
              <a:buNone/>
            </a:pPr>
            <a:r>
              <a:rPr lang="en-US" sz="2000" dirty="0" smtClean="0"/>
              <a:t>     - France : 50%</a:t>
            </a:r>
          </a:p>
          <a:p>
            <a:pPr marL="0" indent="0">
              <a:buNone/>
            </a:pPr>
            <a:r>
              <a:rPr lang="en-US" sz="2000" dirty="0" smtClean="0"/>
              <a:t>     - Spain : 25%</a:t>
            </a:r>
          </a:p>
          <a:p>
            <a:pPr marL="0" indent="0">
              <a:buNone/>
            </a:pPr>
            <a:r>
              <a:rPr lang="en-US" sz="2000" dirty="0" smtClean="0"/>
              <a:t>     - Germany : 25%</a:t>
            </a:r>
          </a:p>
          <a:p>
            <a:r>
              <a:rPr lang="en-US" sz="2000" dirty="0" smtClean="0"/>
              <a:t>Age Distribution :</a:t>
            </a:r>
          </a:p>
          <a:p>
            <a:pPr marL="0" indent="0">
              <a:buNone/>
            </a:pPr>
            <a:r>
              <a:rPr lang="en-US" sz="2000" dirty="0" smtClean="0"/>
              <a:t>     - Median Age : 39 years</a:t>
            </a:r>
          </a:p>
          <a:p>
            <a:pPr marL="0" indent="0">
              <a:buNone/>
            </a:pPr>
            <a:r>
              <a:rPr lang="en-US" sz="2000" dirty="0"/>
              <a:t> </a:t>
            </a:r>
          </a:p>
          <a:p>
            <a:endParaRPr lang="en-US" sz="2000" b="1" dirty="0"/>
          </a:p>
        </p:txBody>
      </p:sp>
      <p:sp>
        <p:nvSpPr>
          <p:cNvPr id="4" name="Content Placeholder 3"/>
          <p:cNvSpPr>
            <a:spLocks noGrp="1"/>
          </p:cNvSpPr>
          <p:nvPr>
            <p:ph sz="half" idx="2"/>
          </p:nvPr>
        </p:nvSpPr>
        <p:spPr>
          <a:xfrm>
            <a:off x="6447251" y="2378213"/>
            <a:ext cx="6115810" cy="5612848"/>
          </a:xfrm>
        </p:spPr>
        <p:txBody>
          <a:bodyPr>
            <a:normAutofit/>
          </a:bodyPr>
          <a:lstStyle/>
          <a:p>
            <a:r>
              <a:rPr lang="en-US" sz="2400" b="1" dirty="0" smtClean="0"/>
              <a:t>Financial</a:t>
            </a:r>
          </a:p>
          <a:p>
            <a:r>
              <a:rPr lang="en-US" sz="2000" dirty="0" smtClean="0"/>
              <a:t>Balance :</a:t>
            </a:r>
            <a:endParaRPr lang="en-US" sz="2000" dirty="0"/>
          </a:p>
          <a:p>
            <a:pPr marL="0" indent="0">
              <a:buNone/>
            </a:pPr>
            <a:r>
              <a:rPr lang="en-US" sz="2000" dirty="0" smtClean="0"/>
              <a:t>      </a:t>
            </a:r>
            <a:r>
              <a:rPr lang="en-US" sz="2000" dirty="0"/>
              <a:t>- Average </a:t>
            </a:r>
            <a:r>
              <a:rPr lang="en-US" sz="2000" dirty="0" smtClean="0"/>
              <a:t>Balance : </a:t>
            </a:r>
            <a:r>
              <a:rPr lang="en-US" sz="2000" dirty="0"/>
              <a:t>$76,000</a:t>
            </a:r>
          </a:p>
          <a:p>
            <a:r>
              <a:rPr lang="en-US" sz="2000" dirty="0" smtClean="0"/>
              <a:t>Products</a:t>
            </a:r>
            <a:endParaRPr lang="en-US" sz="2000" dirty="0"/>
          </a:p>
          <a:p>
            <a:pPr marL="0" indent="0">
              <a:buNone/>
            </a:pPr>
            <a:r>
              <a:rPr lang="en-US" sz="2000" dirty="0"/>
              <a:t> </a:t>
            </a:r>
            <a:r>
              <a:rPr lang="en-US" sz="2000" dirty="0" smtClean="0"/>
              <a:t>     - </a:t>
            </a:r>
            <a:r>
              <a:rPr lang="en-US" sz="2000" dirty="0"/>
              <a:t>1 </a:t>
            </a:r>
            <a:r>
              <a:rPr lang="en-US" sz="2000" dirty="0" smtClean="0"/>
              <a:t>Product : </a:t>
            </a:r>
            <a:r>
              <a:rPr lang="en-US" sz="2000" dirty="0"/>
              <a:t>51%</a:t>
            </a:r>
          </a:p>
          <a:p>
            <a:pPr marL="0" indent="0">
              <a:buNone/>
            </a:pPr>
            <a:r>
              <a:rPr lang="en-US" sz="2000" dirty="0"/>
              <a:t>  </a:t>
            </a:r>
            <a:r>
              <a:rPr lang="en-US" sz="2000" dirty="0" smtClean="0"/>
              <a:t>    - </a:t>
            </a:r>
            <a:r>
              <a:rPr lang="en-US" sz="2000" dirty="0"/>
              <a:t>2 </a:t>
            </a:r>
            <a:r>
              <a:rPr lang="en-US" sz="2000" dirty="0" smtClean="0"/>
              <a:t>Products : </a:t>
            </a:r>
            <a:r>
              <a:rPr lang="en-US" sz="2000" dirty="0"/>
              <a:t>41%</a:t>
            </a:r>
          </a:p>
          <a:p>
            <a:pPr marL="0" indent="0">
              <a:buNone/>
            </a:pPr>
            <a:endParaRPr lang="en-US" dirty="0"/>
          </a:p>
          <a:p>
            <a:endParaRPr lang="en-US" b="1" dirty="0"/>
          </a:p>
        </p:txBody>
      </p:sp>
      <p:cxnSp>
        <p:nvCxnSpPr>
          <p:cNvPr id="6" name="Straight Connector 5"/>
          <p:cNvCxnSpPr/>
          <p:nvPr/>
        </p:nvCxnSpPr>
        <p:spPr>
          <a:xfrm>
            <a:off x="5817704" y="2378213"/>
            <a:ext cx="0" cy="423462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7476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Visualizations</a:t>
            </a:r>
            <a:br>
              <a:rPr lang="en-US" b="1" dirty="0"/>
            </a:br>
            <a:endParaRPr lang="en-US" dirty="0"/>
          </a:p>
        </p:txBody>
      </p:sp>
      <p:sp>
        <p:nvSpPr>
          <p:cNvPr id="3" name="Content Placeholder 2"/>
          <p:cNvSpPr>
            <a:spLocks noGrp="1"/>
          </p:cNvSpPr>
          <p:nvPr>
            <p:ph idx="1"/>
          </p:nvPr>
        </p:nvSpPr>
        <p:spPr>
          <a:xfrm>
            <a:off x="1154955" y="2603500"/>
            <a:ext cx="5590402" cy="3416300"/>
          </a:xfrm>
        </p:spPr>
        <p:txBody>
          <a:bodyPr/>
          <a:lstStyle/>
          <a:p>
            <a:r>
              <a:rPr lang="en-US" sz="2400" dirty="0" smtClean="0"/>
              <a:t>Churn Analysis</a:t>
            </a:r>
          </a:p>
          <a:p>
            <a:r>
              <a:rPr lang="en-US" dirty="0"/>
              <a:t>The graph shows that customer churn rates are highest in Germany and lowest in France. Across all countries, females have a higher churn rate than males, with the largest gender gap in Germany.</a:t>
            </a:r>
            <a:endParaRPr lang="en-US" dirty="0" smtClean="0"/>
          </a:p>
          <a:p>
            <a:pPr marL="0" indent="0">
              <a:buNone/>
            </a:pPr>
            <a:endParaRPr lang="en-US" dirty="0"/>
          </a:p>
        </p:txBody>
      </p:sp>
      <p:pic>
        <p:nvPicPr>
          <p:cNvPr id="4" name="Picture 3"/>
          <p:cNvPicPr>
            <a:picLocks noChangeAspect="1"/>
          </p:cNvPicPr>
          <p:nvPr/>
        </p:nvPicPr>
        <p:blipFill>
          <a:blip r:embed="rId2"/>
          <a:stretch>
            <a:fillRect/>
          </a:stretch>
        </p:blipFill>
        <p:spPr>
          <a:xfrm>
            <a:off x="6745357" y="2364961"/>
            <a:ext cx="5049077" cy="4118602"/>
          </a:xfrm>
          <a:prstGeom prst="rect">
            <a:avLst/>
          </a:prstGeom>
        </p:spPr>
      </p:pic>
    </p:spTree>
    <p:extLst>
      <p:ext uri="{BB962C8B-B14F-4D97-AF65-F5344CB8AC3E}">
        <p14:creationId xmlns:p14="http://schemas.microsoft.com/office/powerpoint/2010/main" val="1944417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Visualizations</a:t>
            </a:r>
            <a:br>
              <a:rPr lang="en-US" b="1" dirty="0"/>
            </a:br>
            <a:endParaRPr lang="en-US" dirty="0"/>
          </a:p>
        </p:txBody>
      </p:sp>
      <p:sp>
        <p:nvSpPr>
          <p:cNvPr id="3" name="Content Placeholder 2"/>
          <p:cNvSpPr>
            <a:spLocks noGrp="1"/>
          </p:cNvSpPr>
          <p:nvPr>
            <p:ph idx="1"/>
          </p:nvPr>
        </p:nvSpPr>
        <p:spPr>
          <a:xfrm>
            <a:off x="1154955" y="2603500"/>
            <a:ext cx="4848280" cy="3416300"/>
          </a:xfrm>
        </p:spPr>
        <p:txBody>
          <a:bodyPr/>
          <a:lstStyle/>
          <a:p>
            <a:r>
              <a:rPr lang="en-US" sz="2400" dirty="0"/>
              <a:t>Financial Behavior</a:t>
            </a:r>
          </a:p>
          <a:p>
            <a:r>
              <a:rPr lang="en-US" dirty="0" smtClean="0"/>
              <a:t>The </a:t>
            </a:r>
            <a:r>
              <a:rPr lang="en-US" dirty="0"/>
              <a:t>graph shows that male customers consistently outnumber female customers across all salary ranges. The distribution of salaries is fairly uniform for both genders, with the highest counts in the middle salary ranges (75,000 to 150,000).</a:t>
            </a:r>
            <a:endParaRPr lang="en-US" dirty="0"/>
          </a:p>
        </p:txBody>
      </p:sp>
      <p:pic>
        <p:nvPicPr>
          <p:cNvPr id="5" name="Picture 4"/>
          <p:cNvPicPr>
            <a:picLocks noChangeAspect="1"/>
          </p:cNvPicPr>
          <p:nvPr/>
        </p:nvPicPr>
        <p:blipFill>
          <a:blip r:embed="rId2"/>
          <a:stretch>
            <a:fillRect/>
          </a:stretch>
        </p:blipFill>
        <p:spPr>
          <a:xfrm>
            <a:off x="6003235" y="2603500"/>
            <a:ext cx="5637278" cy="4230706"/>
          </a:xfrm>
          <a:prstGeom prst="rect">
            <a:avLst/>
          </a:prstGeom>
        </p:spPr>
      </p:pic>
    </p:spTree>
    <p:extLst>
      <p:ext uri="{BB962C8B-B14F-4D97-AF65-F5344CB8AC3E}">
        <p14:creationId xmlns:p14="http://schemas.microsoft.com/office/powerpoint/2010/main" val="1341689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Visualizations</a:t>
            </a:r>
            <a:br>
              <a:rPr lang="en-US" b="1" dirty="0"/>
            </a:br>
            <a:endParaRPr lang="en-US" dirty="0"/>
          </a:p>
        </p:txBody>
      </p:sp>
      <p:sp>
        <p:nvSpPr>
          <p:cNvPr id="3" name="Content Placeholder 2"/>
          <p:cNvSpPr>
            <a:spLocks noGrp="1"/>
          </p:cNvSpPr>
          <p:nvPr>
            <p:ph idx="1"/>
          </p:nvPr>
        </p:nvSpPr>
        <p:spPr>
          <a:xfrm>
            <a:off x="1154955" y="2603500"/>
            <a:ext cx="4848280" cy="3416300"/>
          </a:xfrm>
        </p:spPr>
        <p:txBody>
          <a:bodyPr/>
          <a:lstStyle/>
          <a:p>
            <a:r>
              <a:rPr lang="en-US" sz="2400" dirty="0"/>
              <a:t>Financial Behavior</a:t>
            </a:r>
          </a:p>
          <a:p>
            <a:endParaRPr lang="en-US" dirty="0"/>
          </a:p>
          <a:p>
            <a:r>
              <a:rPr lang="en-US" dirty="0"/>
              <a:t>France and Spain have similar median balances around 100,000 with wide variability. Germany has a higher median balance (~125,000) with less variability but more low-balance outliers.</a:t>
            </a:r>
          </a:p>
        </p:txBody>
      </p:sp>
      <p:pic>
        <p:nvPicPr>
          <p:cNvPr id="6" name="Picture 5"/>
          <p:cNvPicPr>
            <a:picLocks noChangeAspect="1"/>
          </p:cNvPicPr>
          <p:nvPr/>
        </p:nvPicPr>
        <p:blipFill>
          <a:blip r:embed="rId2"/>
          <a:stretch>
            <a:fillRect/>
          </a:stretch>
        </p:blipFill>
        <p:spPr>
          <a:xfrm>
            <a:off x="6003235" y="2733831"/>
            <a:ext cx="5687219" cy="3696216"/>
          </a:xfrm>
          <a:prstGeom prst="rect">
            <a:avLst/>
          </a:prstGeom>
        </p:spPr>
      </p:pic>
    </p:spTree>
    <p:extLst>
      <p:ext uri="{BB962C8B-B14F-4D97-AF65-F5344CB8AC3E}">
        <p14:creationId xmlns:p14="http://schemas.microsoft.com/office/powerpoint/2010/main" val="2035386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Visualizations</a:t>
            </a:r>
            <a:br>
              <a:rPr lang="en-US" b="1" dirty="0"/>
            </a:br>
            <a:endParaRPr lang="en-US" dirty="0"/>
          </a:p>
        </p:txBody>
      </p:sp>
      <p:sp>
        <p:nvSpPr>
          <p:cNvPr id="3" name="Content Placeholder 2"/>
          <p:cNvSpPr>
            <a:spLocks noGrp="1"/>
          </p:cNvSpPr>
          <p:nvPr>
            <p:ph idx="1"/>
          </p:nvPr>
        </p:nvSpPr>
        <p:spPr>
          <a:xfrm>
            <a:off x="1154955" y="2603500"/>
            <a:ext cx="4848280" cy="3416300"/>
          </a:xfrm>
        </p:spPr>
        <p:txBody>
          <a:bodyPr/>
          <a:lstStyle/>
          <a:p>
            <a:r>
              <a:rPr lang="en-US" sz="2400" dirty="0"/>
              <a:t>Customer </a:t>
            </a:r>
            <a:r>
              <a:rPr lang="en-US" sz="2400" dirty="0" smtClean="0"/>
              <a:t>Demographics</a:t>
            </a:r>
          </a:p>
          <a:p>
            <a:r>
              <a:rPr lang="en-US" sz="2000" dirty="0" smtClean="0"/>
              <a:t>This </a:t>
            </a:r>
            <a:r>
              <a:rPr lang="en-US" sz="2000" dirty="0" err="1" smtClean="0"/>
              <a:t>Kdeplot</a:t>
            </a:r>
            <a:r>
              <a:rPr lang="en-US" sz="2000" dirty="0" smtClean="0"/>
              <a:t> between Age and Density while in gender </a:t>
            </a:r>
            <a:r>
              <a:rPr lang="en-US" sz="2000" dirty="0" err="1" smtClean="0"/>
              <a:t>coloumn,Male</a:t>
            </a:r>
            <a:r>
              <a:rPr lang="en-US" sz="2000" dirty="0" smtClean="0"/>
              <a:t> get more value </a:t>
            </a:r>
            <a:r>
              <a:rPr lang="en-US" sz="2000" dirty="0" err="1" smtClean="0"/>
              <a:t>upto</a:t>
            </a:r>
            <a:r>
              <a:rPr lang="en-US" sz="2000" dirty="0" smtClean="0"/>
              <a:t> 0.025 and Female gets </a:t>
            </a:r>
            <a:r>
              <a:rPr lang="en-US" sz="2000" dirty="0" err="1" smtClean="0"/>
              <a:t>inbetween</a:t>
            </a:r>
            <a:r>
              <a:rPr lang="en-US" sz="2000" dirty="0" smtClean="0"/>
              <a:t> 0.015 and 0.020 across the age.</a:t>
            </a:r>
            <a:endParaRPr lang="en-US" sz="2000" dirty="0"/>
          </a:p>
          <a:p>
            <a:pPr marL="0" indent="0">
              <a:buNone/>
            </a:pPr>
            <a:endParaRPr lang="en-US" dirty="0"/>
          </a:p>
        </p:txBody>
      </p:sp>
      <p:pic>
        <p:nvPicPr>
          <p:cNvPr id="4" name="Picture 3"/>
          <p:cNvPicPr>
            <a:picLocks noChangeAspect="1"/>
          </p:cNvPicPr>
          <p:nvPr/>
        </p:nvPicPr>
        <p:blipFill>
          <a:blip r:embed="rId2"/>
          <a:stretch>
            <a:fillRect/>
          </a:stretch>
        </p:blipFill>
        <p:spPr>
          <a:xfrm>
            <a:off x="6003235" y="2721160"/>
            <a:ext cx="5010849" cy="3620005"/>
          </a:xfrm>
          <a:prstGeom prst="rect">
            <a:avLst/>
          </a:prstGeom>
        </p:spPr>
      </p:pic>
    </p:spTree>
    <p:extLst>
      <p:ext uri="{BB962C8B-B14F-4D97-AF65-F5344CB8AC3E}">
        <p14:creationId xmlns:p14="http://schemas.microsoft.com/office/powerpoint/2010/main" val="2833912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Recommendations</a:t>
            </a:r>
            <a:endParaRPr lang="en-US" sz="4400" b="1" dirty="0"/>
          </a:p>
        </p:txBody>
      </p:sp>
      <p:sp>
        <p:nvSpPr>
          <p:cNvPr id="3" name="Content Placeholder 2"/>
          <p:cNvSpPr>
            <a:spLocks noGrp="1"/>
          </p:cNvSpPr>
          <p:nvPr>
            <p:ph idx="1"/>
          </p:nvPr>
        </p:nvSpPr>
        <p:spPr>
          <a:xfrm>
            <a:off x="1154954" y="2603500"/>
            <a:ext cx="9619063" cy="4254500"/>
          </a:xfrm>
        </p:spPr>
        <p:txBody>
          <a:bodyPr>
            <a:normAutofit/>
          </a:bodyPr>
          <a:lstStyle/>
          <a:p>
            <a:r>
              <a:rPr lang="en-US" sz="2600" b="1" dirty="0"/>
              <a:t>Retention Strategies</a:t>
            </a:r>
            <a:endParaRPr lang="en-US" sz="3500" b="1" dirty="0"/>
          </a:p>
          <a:p>
            <a:pPr marL="0" indent="0">
              <a:buNone/>
            </a:pPr>
            <a:r>
              <a:rPr lang="en-US" sz="2200" dirty="0" smtClean="0"/>
              <a:t>1.Targeted Campaigns</a:t>
            </a:r>
            <a:r>
              <a:rPr lang="en-US" sz="2200" dirty="0"/>
              <a:t> </a:t>
            </a:r>
            <a:r>
              <a:rPr lang="en-US" sz="2200" dirty="0" smtClean="0"/>
              <a:t>:</a:t>
            </a:r>
            <a:endParaRPr lang="en-US" sz="2200" dirty="0"/>
          </a:p>
          <a:p>
            <a:pPr marL="0" indent="0">
              <a:buNone/>
            </a:pPr>
            <a:r>
              <a:rPr lang="en-US" sz="2200" dirty="0"/>
              <a:t>   - Focus on customers in Germany and younger age </a:t>
            </a:r>
            <a:r>
              <a:rPr lang="en-US" sz="2200" dirty="0" smtClean="0"/>
              <a:t>groups.</a:t>
            </a:r>
          </a:p>
          <a:p>
            <a:pPr marL="0" indent="0">
              <a:buNone/>
            </a:pPr>
            <a:r>
              <a:rPr lang="en-US" sz="2200" dirty="0" smtClean="0"/>
              <a:t>2. Enhance Customer Engagement :</a:t>
            </a:r>
          </a:p>
          <a:p>
            <a:pPr marL="0" indent="0">
              <a:buNone/>
            </a:pPr>
            <a:r>
              <a:rPr lang="en-US" sz="2200" dirty="0" smtClean="0"/>
              <a:t>   </a:t>
            </a:r>
            <a:r>
              <a:rPr lang="en-US" sz="2200" dirty="0"/>
              <a:t>- Provide incentives for low-balance customers.</a:t>
            </a:r>
          </a:p>
          <a:p>
            <a:pPr marL="0" indent="0">
              <a:buNone/>
            </a:pPr>
            <a:r>
              <a:rPr lang="en-US" sz="2200" dirty="0"/>
              <a:t>   - Encourage inactive members to increase activity.</a:t>
            </a:r>
          </a:p>
          <a:p>
            <a:pPr marL="0" indent="0">
              <a:buNone/>
            </a:pPr>
            <a:r>
              <a:rPr lang="en-US" sz="2200" dirty="0"/>
              <a:t>3. </a:t>
            </a:r>
            <a:r>
              <a:rPr lang="en-US" sz="2200" dirty="0" smtClean="0"/>
              <a:t>Product Bundling:</a:t>
            </a:r>
            <a:endParaRPr lang="en-US" sz="2200" dirty="0"/>
          </a:p>
          <a:p>
            <a:pPr marL="0" indent="0">
              <a:buNone/>
            </a:pPr>
            <a:r>
              <a:rPr lang="en-US" sz="2200" dirty="0"/>
              <a:t>   - Promote additional product usage to reduce churn.</a:t>
            </a:r>
          </a:p>
          <a:p>
            <a:pPr marL="0" indent="0">
              <a:buNone/>
            </a:pPr>
            <a:r>
              <a:rPr lang="en-US" sz="2200" dirty="0"/>
              <a:t> </a:t>
            </a:r>
          </a:p>
          <a:p>
            <a:endParaRPr lang="en-US" dirty="0"/>
          </a:p>
        </p:txBody>
      </p:sp>
    </p:spTree>
    <p:extLst>
      <p:ext uri="{BB962C8B-B14F-4D97-AF65-F5344CB8AC3E}">
        <p14:creationId xmlns:p14="http://schemas.microsoft.com/office/powerpoint/2010/main" val="2010112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450" y="1829506"/>
            <a:ext cx="4351025" cy="2283824"/>
          </a:xfrm>
        </p:spPr>
        <p:txBody>
          <a:bodyPr/>
          <a:lstStyle/>
          <a:p>
            <a:r>
              <a:rPr lang="en-US" sz="4800" b="1" dirty="0"/>
              <a:t>Conclusion</a:t>
            </a:r>
          </a:p>
        </p:txBody>
      </p:sp>
      <p:sp>
        <p:nvSpPr>
          <p:cNvPr id="3" name="Text Placeholder 2"/>
          <p:cNvSpPr>
            <a:spLocks noGrp="1"/>
          </p:cNvSpPr>
          <p:nvPr>
            <p:ph type="body" idx="1"/>
          </p:nvPr>
        </p:nvSpPr>
        <p:spPr>
          <a:xfrm>
            <a:off x="6506818" y="1076357"/>
            <a:ext cx="5791200" cy="5486399"/>
          </a:xfrm>
        </p:spPr>
        <p:txBody>
          <a:bodyPr>
            <a:normAutofit/>
          </a:bodyPr>
          <a:lstStyle/>
          <a:p>
            <a:r>
              <a:rPr lang="en-US" sz="2400" b="1" dirty="0" smtClean="0">
                <a:solidFill>
                  <a:schemeClr val="tx1"/>
                </a:solidFill>
              </a:rPr>
              <a:t>Summary</a:t>
            </a:r>
            <a:endParaRPr lang="en-US" sz="2400" b="1" dirty="0">
              <a:solidFill>
                <a:schemeClr val="tx1"/>
              </a:solidFill>
            </a:endParaRPr>
          </a:p>
          <a:p>
            <a:r>
              <a:rPr lang="en-US" dirty="0"/>
              <a:t>- </a:t>
            </a:r>
            <a:r>
              <a:rPr lang="en-US" cap="none" dirty="0" smtClean="0">
                <a:solidFill>
                  <a:schemeClr val="tx1"/>
                </a:solidFill>
              </a:rPr>
              <a:t>High churn observed in </a:t>
            </a:r>
            <a:r>
              <a:rPr lang="en-US" cap="none" dirty="0" err="1" smtClean="0">
                <a:solidFill>
                  <a:schemeClr val="tx1"/>
                </a:solidFill>
              </a:rPr>
              <a:t>germany</a:t>
            </a:r>
            <a:r>
              <a:rPr lang="en-US" cap="none" dirty="0" smtClean="0">
                <a:solidFill>
                  <a:schemeClr val="tx1"/>
                </a:solidFill>
              </a:rPr>
              <a:t> and among customers with low financial activity.</a:t>
            </a:r>
          </a:p>
          <a:p>
            <a:r>
              <a:rPr lang="en-US" cap="none" dirty="0" smtClean="0">
                <a:solidFill>
                  <a:schemeClr val="tx1"/>
                </a:solidFill>
              </a:rPr>
              <a:t>- Financial engagement and age are strong     predictors of churn.</a:t>
            </a:r>
          </a:p>
          <a:p>
            <a:r>
              <a:rPr lang="en-US" sz="2400" b="1" dirty="0"/>
              <a:t> </a:t>
            </a:r>
            <a:r>
              <a:rPr lang="en-US" sz="2400" b="1" dirty="0" smtClean="0">
                <a:solidFill>
                  <a:schemeClr val="tx1"/>
                </a:solidFill>
              </a:rPr>
              <a:t>Next Steps</a:t>
            </a:r>
            <a:endParaRPr lang="en-US" sz="2400" b="1" dirty="0">
              <a:solidFill>
                <a:schemeClr val="tx1"/>
              </a:solidFill>
            </a:endParaRPr>
          </a:p>
          <a:p>
            <a:r>
              <a:rPr lang="en-US" cap="none" dirty="0" smtClean="0">
                <a:solidFill>
                  <a:schemeClr val="tx1"/>
                </a:solidFill>
              </a:rPr>
              <a:t>- Implement retention strategies and measure performance.</a:t>
            </a:r>
          </a:p>
          <a:p>
            <a:r>
              <a:rPr lang="en-US" cap="none" dirty="0" smtClean="0">
                <a:solidFill>
                  <a:schemeClr val="tx1"/>
                </a:solidFill>
              </a:rPr>
              <a:t>- Monitor churn trends quarterly to adapt strategies.</a:t>
            </a:r>
          </a:p>
          <a:p>
            <a:endParaRPr lang="en-US" cap="none" dirty="0"/>
          </a:p>
        </p:txBody>
      </p:sp>
    </p:spTree>
    <p:extLst>
      <p:ext uri="{BB962C8B-B14F-4D97-AF65-F5344CB8AC3E}">
        <p14:creationId xmlns:p14="http://schemas.microsoft.com/office/powerpoint/2010/main" val="1486400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2763" y="2370667"/>
            <a:ext cx="8825660" cy="1822514"/>
          </a:xfrm>
        </p:spPr>
        <p:txBody>
          <a:bodyPr/>
          <a:lstStyle/>
          <a:p>
            <a:pPr algn="ctr"/>
            <a:r>
              <a:rPr lang="en-US" sz="4400" dirty="0">
                <a:solidFill>
                  <a:schemeClr val="bg1"/>
                </a:solidFill>
              </a:rPr>
              <a:t>Thank you for your attention!</a:t>
            </a:r>
            <a:br>
              <a:rPr lang="en-US" sz="4400" dirty="0">
                <a:solidFill>
                  <a:schemeClr val="bg1"/>
                </a:solidFill>
              </a:rPr>
            </a:br>
            <a:endParaRPr lang="en-US" sz="4400" b="1" dirty="0">
              <a:solidFill>
                <a:schemeClr val="bg1"/>
              </a:solidFill>
            </a:endParaRPr>
          </a:p>
        </p:txBody>
      </p:sp>
      <p:sp>
        <p:nvSpPr>
          <p:cNvPr id="3" name="Text Placeholder 2"/>
          <p:cNvSpPr>
            <a:spLocks noGrp="1"/>
          </p:cNvSpPr>
          <p:nvPr>
            <p:ph type="body" idx="1"/>
          </p:nvPr>
        </p:nvSpPr>
        <p:spPr>
          <a:xfrm>
            <a:off x="2890989" y="4905698"/>
            <a:ext cx="8095063" cy="713224"/>
          </a:xfrm>
        </p:spPr>
        <p:txBody>
          <a:bodyPr>
            <a:normAutofit/>
          </a:bodyPr>
          <a:lstStyle/>
          <a:p>
            <a:r>
              <a:rPr lang="en-US" sz="3400" dirty="0">
                <a:solidFill>
                  <a:schemeClr val="tx1"/>
                </a:solidFill>
              </a:rPr>
              <a:t> </a:t>
            </a:r>
          </a:p>
          <a:p>
            <a:endParaRPr lang="en-US" dirty="0"/>
          </a:p>
        </p:txBody>
      </p:sp>
    </p:spTree>
    <p:extLst>
      <p:ext uri="{BB962C8B-B14F-4D97-AF65-F5344CB8AC3E}">
        <p14:creationId xmlns:p14="http://schemas.microsoft.com/office/powerpoint/2010/main" val="33596721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261</TotalTime>
  <Words>520</Words>
  <Application>Microsoft Office PowerPoint</Application>
  <PresentationFormat>Widescreen</PresentationFormat>
  <Paragraphs>77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Century Gothic</vt:lpstr>
      <vt:lpstr>Wingdings</vt:lpstr>
      <vt:lpstr>Wingdings 3</vt:lpstr>
      <vt:lpstr>Ion Boardroom</vt:lpstr>
      <vt:lpstr>Churn Modelling </vt:lpstr>
      <vt:lpstr>Introduction</vt:lpstr>
      <vt:lpstr>Dataset Overview</vt:lpstr>
      <vt:lpstr>Data Cleaning Steps</vt:lpstr>
      <vt:lpstr>Key Statistics</vt:lpstr>
      <vt:lpstr>Visualizations </vt:lpstr>
      <vt:lpstr>Visualizations </vt:lpstr>
      <vt:lpstr>Visualizations </vt:lpstr>
      <vt:lpstr>Visualizations </vt:lpstr>
      <vt:lpstr>Recommendations</vt:lpstr>
      <vt:lpstr>Conclusion</vt:lpstr>
      <vt:lpstr>Thank you for your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Churn Modelling</dc:title>
  <dc:creator>Prime</dc:creator>
  <cp:lastModifiedBy>Prime</cp:lastModifiedBy>
  <cp:revision>14</cp:revision>
  <dcterms:created xsi:type="dcterms:W3CDTF">2024-12-16T12:33:46Z</dcterms:created>
  <dcterms:modified xsi:type="dcterms:W3CDTF">2024-12-17T08:35:46Z</dcterms:modified>
</cp:coreProperties>
</file>